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5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Helvetica Neue Light"/>
      <p:regular r:id="rId15"/>
      <p:bold r:id="rId16"/>
      <p:italic r:id="rId17"/>
      <p:boldItalic r:id="rId18"/>
    </p:embeddedFont>
    <p:embeddedFont>
      <p:font typeface="Open Sans Light"/>
      <p:regular r:id="rId19"/>
      <p:bold r:id="rId20"/>
      <p:italic r:id="rId21"/>
      <p:boldItalic r:id="rId22"/>
    </p:embeddedFont>
    <p:embeddedFont>
      <p:font typeface="Open Sans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penSansLight-bold.fntdata"/><Relationship Id="rId22" Type="http://schemas.openxmlformats.org/officeDocument/2006/relationships/font" Target="fonts/OpenSansLight-boldItalic.fntdata"/><Relationship Id="rId21" Type="http://schemas.openxmlformats.org/officeDocument/2006/relationships/font" Target="fonts/OpenSansLight-italic.fntdata"/><Relationship Id="rId24" Type="http://schemas.openxmlformats.org/officeDocument/2006/relationships/font" Target="fonts/OpenSans-bold.fntdata"/><Relationship Id="rId23" Type="http://schemas.openxmlformats.org/officeDocument/2006/relationships/font" Target="fonts/OpenSans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OpenSans-boldItalic.fntdata"/><Relationship Id="rId25" Type="http://schemas.openxmlformats.org/officeDocument/2006/relationships/font" Target="fonts/OpenSans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font" Target="fonts/HelveticaNeueLight-regular.fntdata"/><Relationship Id="rId14" Type="http://schemas.openxmlformats.org/officeDocument/2006/relationships/slide" Target="slides/slide9.xml"/><Relationship Id="rId17" Type="http://schemas.openxmlformats.org/officeDocument/2006/relationships/font" Target="fonts/HelveticaNeueLight-italic.fntdata"/><Relationship Id="rId16" Type="http://schemas.openxmlformats.org/officeDocument/2006/relationships/font" Target="fonts/HelveticaNeueLight-bold.fntdata"/><Relationship Id="rId19" Type="http://schemas.openxmlformats.org/officeDocument/2006/relationships/font" Target="fonts/OpenSansLight-regular.fntdata"/><Relationship Id="rId18" Type="http://schemas.openxmlformats.org/officeDocument/2006/relationships/font" Target="fonts/HelveticaNeueLight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0" name="Google Shape;50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1" name="Google Shape;51;p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Main title: 40 pt. Arial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br>
              <a:rPr lang="en-US"/>
            </a:br>
            <a:r>
              <a:rPr lang="en-US"/>
              <a:t>Presenter Name: 16 pt. Arial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Presenters Title: 16 pt. Arial Italic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526bd8a666_0_3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526bd8a666_0_3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g3526bd8a666_0_33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526bd8a666_0_4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526bd8a666_0_4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g3526bd8a666_0_46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526bd8a666_0_5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526bd8a666_0_5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g3526bd8a666_0_59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526bd8a666_0_6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526bd8a666_0_6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g3526bd8a666_0_66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526bd8a666_0_7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526bd8a666_0_7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526bd8a666_0_71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526bd8a666_0_8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526bd8a666_0_8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g3526bd8a666_0_81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4e078b89c5_0_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4e078b89c5_0_1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g34e078b89c5_0_13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1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>
  <p:cSld name="Title Slid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BB002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2" name="Google Shape;22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209800" y="895350"/>
            <a:ext cx="3429000" cy="3063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_Plaid-Digital_FINAL-NEW.png" id="23" name="Google Shape;23;p2"/>
          <p:cNvPicPr preferRelativeResize="0"/>
          <p:nvPr/>
        </p:nvPicPr>
        <p:blipFill rotWithShape="1">
          <a:blip r:embed="rId3">
            <a:alphaModFix/>
          </a:blip>
          <a:srcRect b="1989" l="84737" r="4770" t="23988"/>
          <a:stretch/>
        </p:blipFill>
        <p:spPr>
          <a:xfrm>
            <a:off x="457200" y="0"/>
            <a:ext cx="79057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BB002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5" name="Google Shape;25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209800" y="895350"/>
            <a:ext cx="3429000" cy="3063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_Plaid-Digital_FINAL-NEW.png" id="26" name="Google Shape;26;p2"/>
          <p:cNvPicPr preferRelativeResize="0"/>
          <p:nvPr/>
        </p:nvPicPr>
        <p:blipFill rotWithShape="1">
          <a:blip r:embed="rId3">
            <a:alphaModFix/>
          </a:blip>
          <a:srcRect b="1989" l="84737" r="4770" t="23988"/>
          <a:stretch/>
        </p:blipFill>
        <p:spPr>
          <a:xfrm>
            <a:off x="457200" y="0"/>
            <a:ext cx="7905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 txBox="1"/>
          <p:nvPr>
            <p:ph type="title"/>
          </p:nvPr>
        </p:nvSpPr>
        <p:spPr>
          <a:xfrm>
            <a:off x="457200" y="361950"/>
            <a:ext cx="822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Column">
  <p:cSld name="1 Column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type="title"/>
          </p:nvPr>
        </p:nvSpPr>
        <p:spPr>
          <a:xfrm>
            <a:off x="457200" y="361950"/>
            <a:ext cx="822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457200" y="1200150"/>
            <a:ext cx="82296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1pPr>
            <a:lvl2pPr indent="-354330" lvl="1" marL="9144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2pPr>
            <a:lvl3pPr indent="-354330" lvl="2" marL="13716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3pPr>
            <a:lvl4pPr indent="-354330" lvl="3" marL="18288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4pPr>
            <a:lvl5pPr indent="-354329" lvl="4" marL="22860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Column">
  <p:cSld name="2 Column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361950"/>
            <a:ext cx="822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200150"/>
            <a:ext cx="39624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1pPr>
            <a:lvl2pPr indent="-354330" lvl="1" marL="9144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2pPr>
            <a:lvl3pPr indent="-354330" lvl="2" marL="13716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3pPr>
            <a:lvl4pPr indent="-354330" lvl="3" marL="18288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4pPr>
            <a:lvl5pPr indent="-354329" lvl="4" marL="22860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727448" y="1212300"/>
            <a:ext cx="3959352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1pPr>
            <a:lvl2pPr indent="-354330" lvl="1" marL="9144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2pPr>
            <a:lvl3pPr indent="-354330" lvl="2" marL="13716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3pPr>
            <a:lvl4pPr indent="-354330" lvl="3" marL="18288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4pPr>
            <a:lvl5pPr indent="-354329" lvl="4" marL="22860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Column">
  <p:cSld name="3 Colum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 txBox="1"/>
          <p:nvPr>
            <p:ph type="title"/>
          </p:nvPr>
        </p:nvSpPr>
        <p:spPr>
          <a:xfrm>
            <a:off x="457200" y="361950"/>
            <a:ext cx="822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457200" y="1200150"/>
            <a:ext cx="25908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1pPr>
            <a:lvl2pPr indent="-354330" lvl="1" marL="9144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2pPr>
            <a:lvl3pPr indent="-354330" lvl="2" marL="13716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3pPr>
            <a:lvl4pPr indent="-354330" lvl="3" marL="18288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4pPr>
            <a:lvl5pPr indent="-354329" lvl="4" marL="22860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40" name="Google Shape;40;p7"/>
          <p:cNvSpPr txBox="1"/>
          <p:nvPr>
            <p:ph idx="2" type="body"/>
          </p:nvPr>
        </p:nvSpPr>
        <p:spPr>
          <a:xfrm>
            <a:off x="3276600" y="1200150"/>
            <a:ext cx="25908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1pPr>
            <a:lvl2pPr indent="-354330" lvl="1" marL="9144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2pPr>
            <a:lvl3pPr indent="-354330" lvl="2" marL="13716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3pPr>
            <a:lvl4pPr indent="-354330" lvl="3" marL="18288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4pPr>
            <a:lvl5pPr indent="-354329" lvl="4" marL="22860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41" name="Google Shape;41;p7"/>
          <p:cNvSpPr txBox="1"/>
          <p:nvPr>
            <p:ph idx="3" type="body"/>
          </p:nvPr>
        </p:nvSpPr>
        <p:spPr>
          <a:xfrm>
            <a:off x="6096000" y="1200150"/>
            <a:ext cx="25908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1pPr>
            <a:lvl2pPr indent="-354330" lvl="1" marL="9144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2pPr>
            <a:lvl3pPr indent="-354330" lvl="2" marL="13716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3pPr>
            <a:lvl4pPr indent="-354330" lvl="3" marL="18288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4pPr>
            <a:lvl5pPr indent="-354329" lvl="4" marL="22860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Column">
  <p:cSld name="4 Column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57200" y="361950"/>
            <a:ext cx="822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8"/>
          <p:cNvSpPr txBox="1"/>
          <p:nvPr>
            <p:ph idx="1" type="body"/>
          </p:nvPr>
        </p:nvSpPr>
        <p:spPr>
          <a:xfrm>
            <a:off x="457200" y="1200150"/>
            <a:ext cx="1905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1pPr>
            <a:lvl2pPr indent="-354330" lvl="1" marL="9144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2pPr>
            <a:lvl3pPr indent="-354330" lvl="2" marL="13716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3pPr>
            <a:lvl4pPr indent="-354330" lvl="3" marL="18288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4pPr>
            <a:lvl5pPr indent="-354329" lvl="4" marL="22860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45" name="Google Shape;45;p8"/>
          <p:cNvSpPr txBox="1"/>
          <p:nvPr>
            <p:ph idx="2" type="body"/>
          </p:nvPr>
        </p:nvSpPr>
        <p:spPr>
          <a:xfrm>
            <a:off x="2565400" y="1200150"/>
            <a:ext cx="1905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1pPr>
            <a:lvl2pPr indent="-354330" lvl="1" marL="9144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2pPr>
            <a:lvl3pPr indent="-354330" lvl="2" marL="13716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3pPr>
            <a:lvl4pPr indent="-354330" lvl="3" marL="18288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4pPr>
            <a:lvl5pPr indent="-354329" lvl="4" marL="22860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46" name="Google Shape;46;p8"/>
          <p:cNvSpPr txBox="1"/>
          <p:nvPr>
            <p:ph idx="3" type="body"/>
          </p:nvPr>
        </p:nvSpPr>
        <p:spPr>
          <a:xfrm>
            <a:off x="4673600" y="1200150"/>
            <a:ext cx="1905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1pPr>
            <a:lvl2pPr indent="-354330" lvl="1" marL="9144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2pPr>
            <a:lvl3pPr indent="-354330" lvl="2" marL="13716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3pPr>
            <a:lvl4pPr indent="-354330" lvl="3" marL="18288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4pPr>
            <a:lvl5pPr indent="-354329" lvl="4" marL="22860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4" type="body"/>
          </p:nvPr>
        </p:nvSpPr>
        <p:spPr>
          <a:xfrm>
            <a:off x="6781800" y="1200150"/>
            <a:ext cx="1905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1pPr>
            <a:lvl2pPr indent="-354330" lvl="1" marL="9144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2pPr>
            <a:lvl3pPr indent="-354330" lvl="2" marL="13716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3pPr>
            <a:lvl4pPr indent="-354330" lvl="3" marL="18288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4pPr>
            <a:lvl5pPr indent="-354329" lvl="4" marL="22860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10" Type="http://schemas.openxmlformats.org/officeDocument/2006/relationships/theme" Target="../theme/theme2.xml"/><Relationship Id="rId9" Type="http://schemas.openxmlformats.org/officeDocument/2006/relationships/slideLayout" Target="../slideLayouts/slideLayout7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_Plaid-Digital_FINAL-NEW.png" id="10" name="Google Shape;10;p1"/>
          <p:cNvPicPr preferRelativeResize="0"/>
          <p:nvPr/>
        </p:nvPicPr>
        <p:blipFill rotWithShape="1">
          <a:blip r:embed="rId1">
            <a:alphaModFix/>
          </a:blip>
          <a:srcRect b="2893" l="59550" r="39888" t="20875"/>
          <a:stretch/>
        </p:blipFill>
        <p:spPr>
          <a:xfrm rot="5400000">
            <a:off x="3798887" y="1046163"/>
            <a:ext cx="60325" cy="7658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_Plaid-Digital_FINAL-NEW.png" id="11" name="Google Shape;11;p1"/>
          <p:cNvPicPr preferRelativeResize="0"/>
          <p:nvPr/>
        </p:nvPicPr>
        <p:blipFill rotWithShape="1">
          <a:blip r:embed="rId1">
            <a:alphaModFix/>
          </a:blip>
          <a:srcRect b="2893" l="59550" r="39888" t="20875"/>
          <a:stretch/>
        </p:blipFill>
        <p:spPr>
          <a:xfrm rot="5400000">
            <a:off x="3798887" y="1046163"/>
            <a:ext cx="60325" cy="76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1"/>
          <p:cNvSpPr txBox="1"/>
          <p:nvPr>
            <p:ph type="title"/>
          </p:nvPr>
        </p:nvSpPr>
        <p:spPr>
          <a:xfrm>
            <a:off x="457200" y="361950"/>
            <a:ext cx="822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" type="body"/>
          </p:nvPr>
        </p:nvSpPr>
        <p:spPr>
          <a:xfrm>
            <a:off x="457200" y="1200150"/>
            <a:ext cx="8229600" cy="35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60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26390" lvl="1" marL="9144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54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26389" lvl="2" marL="13716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540"/>
              <a:buFont typeface="Arial"/>
              <a:buChar char="–"/>
              <a:defRPr b="0" i="1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26389" lvl="3" marL="18288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54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26389" lvl="4" marL="22860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540"/>
              <a:buFont typeface="Arial"/>
              <a:buChar char="–"/>
              <a:defRPr b="0" i="1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4" name="Google Shape;14;p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772400" y="4248150"/>
            <a:ext cx="1154590" cy="736392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1"/>
          <p:cNvSpPr txBox="1"/>
          <p:nvPr>
            <p:ph idx="12" type="sldNum"/>
          </p:nvPr>
        </p:nvSpPr>
        <p:spPr>
          <a:xfrm>
            <a:off x="11073918" y="6400413"/>
            <a:ext cx="279883" cy="276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" name="Google Shape;16;p1"/>
          <p:cNvSpPr txBox="1"/>
          <p:nvPr/>
        </p:nvSpPr>
        <p:spPr>
          <a:xfrm>
            <a:off x="11226318" y="6552813"/>
            <a:ext cx="279883" cy="276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‹#›</a:t>
            </a:fld>
            <a:endParaRPr b="0" i="0" sz="1200" u="none" cap="none" strike="noStrike">
              <a:solidFill>
                <a:srgbClr val="888888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17" name="Google Shape;17;p1"/>
          <p:cNvSpPr txBox="1"/>
          <p:nvPr/>
        </p:nvSpPr>
        <p:spPr>
          <a:xfrm>
            <a:off x="11378718" y="6705213"/>
            <a:ext cx="279883" cy="276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‹#›</a:t>
            </a:fld>
            <a:endParaRPr b="0" i="0" sz="1200" u="none" cap="none" strike="noStrike">
              <a:solidFill>
                <a:srgbClr val="888888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18" name="Google Shape;18;p1"/>
          <p:cNvSpPr txBox="1"/>
          <p:nvPr/>
        </p:nvSpPr>
        <p:spPr>
          <a:xfrm>
            <a:off x="11531118" y="6857613"/>
            <a:ext cx="279883" cy="276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‹#›</a:t>
            </a:fld>
            <a:endParaRPr b="0" i="0" sz="1200" u="none" cap="none" strike="noStrike">
              <a:solidFill>
                <a:srgbClr val="888888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19" name="Google Shape;19;p1"/>
          <p:cNvSpPr txBox="1"/>
          <p:nvPr/>
        </p:nvSpPr>
        <p:spPr>
          <a:xfrm>
            <a:off x="8534400" y="100340"/>
            <a:ext cx="506890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1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‹#›</a:t>
            </a:fld>
            <a:endParaRPr b="0" i="0" sz="1100" u="none" cap="none" strike="noStrike">
              <a:solidFill>
                <a:srgbClr val="7F7F7F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3"/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jpg"/><Relationship Id="rId4" Type="http://schemas.openxmlformats.org/officeDocument/2006/relationships/image" Target="../media/image8.jpg"/><Relationship Id="rId5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0.png"/><Relationship Id="rId4" Type="http://schemas.openxmlformats.org/officeDocument/2006/relationships/image" Target="../media/image26.png"/><Relationship Id="rId5" Type="http://schemas.openxmlformats.org/officeDocument/2006/relationships/image" Target="../media/image23.png"/><Relationship Id="rId6" Type="http://schemas.openxmlformats.org/officeDocument/2006/relationships/image" Target="../media/image2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jpg"/><Relationship Id="rId4" Type="http://schemas.openxmlformats.org/officeDocument/2006/relationships/image" Target="../media/image5.png"/><Relationship Id="rId5" Type="http://schemas.openxmlformats.org/officeDocument/2006/relationships/image" Target="../media/image12.png"/><Relationship Id="rId6" Type="http://schemas.openxmlformats.org/officeDocument/2006/relationships/image" Target="../media/image29.png"/><Relationship Id="rId7" Type="http://schemas.openxmlformats.org/officeDocument/2006/relationships/image" Target="../media/image10.jpg"/><Relationship Id="rId8" Type="http://schemas.openxmlformats.org/officeDocument/2006/relationships/image" Target="../media/image1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jpg"/><Relationship Id="rId4" Type="http://schemas.openxmlformats.org/officeDocument/2006/relationships/image" Target="../media/image27.jp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3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8.png"/><Relationship Id="rId4" Type="http://schemas.openxmlformats.org/officeDocument/2006/relationships/image" Target="../media/image25.png"/><Relationship Id="rId5" Type="http://schemas.openxmlformats.org/officeDocument/2006/relationships/image" Target="../media/image24.png"/><Relationship Id="rId6" Type="http://schemas.openxmlformats.org/officeDocument/2006/relationships/image" Target="../media/image2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3" name="Google Shape;53;p9"/>
          <p:cNvCxnSpPr/>
          <p:nvPr/>
        </p:nvCxnSpPr>
        <p:spPr>
          <a:xfrm>
            <a:off x="2209800" y="3486150"/>
            <a:ext cx="5486400" cy="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4" name="Google Shape;54;p9"/>
          <p:cNvSpPr txBox="1"/>
          <p:nvPr/>
        </p:nvSpPr>
        <p:spPr>
          <a:xfrm>
            <a:off x="2133600" y="2038350"/>
            <a:ext cx="67803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" lvl="0" marL="3175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Image Colorization with Regression and Classification</a:t>
            </a:r>
            <a:endParaRPr sz="3400"/>
          </a:p>
        </p:txBody>
      </p:sp>
      <p:sp>
        <p:nvSpPr>
          <p:cNvPr id="55" name="Google Shape;55;p9"/>
          <p:cNvSpPr txBox="1"/>
          <p:nvPr/>
        </p:nvSpPr>
        <p:spPr>
          <a:xfrm>
            <a:off x="2133600" y="3638550"/>
            <a:ext cx="5257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" lvl="0" marL="3175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Enrique Campos Alonso - ecamposa</a:t>
            </a:r>
            <a:endParaRPr/>
          </a:p>
          <a:p>
            <a:pPr indent="-3175" lvl="0" marL="3175" marR="0" rtl="0" algn="l">
              <a:spcBef>
                <a:spcPts val="320"/>
              </a:spcBef>
              <a:spcAft>
                <a:spcPts val="0"/>
              </a:spcAft>
              <a:buNone/>
            </a:pPr>
            <a:r>
              <a:rPr i="1" lang="en-US"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17644 - Applied Deep Learning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0"/>
          <p:cNvSpPr txBox="1"/>
          <p:nvPr>
            <p:ph type="title"/>
          </p:nvPr>
        </p:nvSpPr>
        <p:spPr>
          <a:xfrm>
            <a:off x="457200" y="361950"/>
            <a:ext cx="8229600" cy="609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Image Colorization with Regression and Classification</a:t>
            </a:r>
            <a:endParaRPr sz="2200"/>
          </a:p>
        </p:txBody>
      </p:sp>
      <p:sp>
        <p:nvSpPr>
          <p:cNvPr id="61" name="Google Shape;61;p10"/>
          <p:cNvSpPr txBox="1"/>
          <p:nvPr>
            <p:ph idx="1" type="body"/>
          </p:nvPr>
        </p:nvSpPr>
        <p:spPr>
          <a:xfrm>
            <a:off x="457200" y="1200150"/>
            <a:ext cx="8229600" cy="3429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/>
              <a:t>The challenge is to </a:t>
            </a:r>
            <a:r>
              <a:rPr b="1" lang="en-US"/>
              <a:t>generate plausible and perceptually </a:t>
            </a:r>
            <a:r>
              <a:rPr b="1" lang="en-US"/>
              <a:t>convincing</a:t>
            </a:r>
            <a:r>
              <a:rPr b="1" lang="en-US"/>
              <a:t> colorizations</a:t>
            </a:r>
            <a:r>
              <a:rPr lang="en-US"/>
              <a:t> from </a:t>
            </a:r>
            <a:r>
              <a:rPr b="1" lang="en-US"/>
              <a:t>grayscale</a:t>
            </a:r>
            <a:r>
              <a:rPr b="1" lang="en-US"/>
              <a:t> images</a:t>
            </a:r>
            <a:r>
              <a:rPr lang="en-US"/>
              <a:t>, following simplified versions of state-of-the-art architectures. These are the combinations used that require knowledge of </a:t>
            </a:r>
            <a:r>
              <a:rPr b="1" lang="en-US"/>
              <a:t>regression and classification</a:t>
            </a:r>
            <a:r>
              <a:rPr lang="en-US"/>
              <a:t> tasks and </a:t>
            </a:r>
            <a:r>
              <a:rPr b="1" lang="en-US"/>
              <a:t>color spaces in image processing:</a:t>
            </a:r>
            <a:endParaRPr b="1"/>
          </a:p>
        </p:txBody>
      </p:sp>
      <p:pic>
        <p:nvPicPr>
          <p:cNvPr id="62" name="Google Shape;62;p10" title="rafa_nadal_bn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2722400"/>
            <a:ext cx="1627676" cy="1196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0" title="rafa_nadal_c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77800" y="2571742"/>
            <a:ext cx="2037600" cy="1497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19013" y="2793553"/>
            <a:ext cx="2096049" cy="1054025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0"/>
          <p:cNvSpPr/>
          <p:nvPr/>
        </p:nvSpPr>
        <p:spPr>
          <a:xfrm>
            <a:off x="2022825" y="2727288"/>
            <a:ext cx="1124700" cy="343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9DAF8"/>
          </a:solidFill>
          <a:ln cap="flat" cmpd="sng" w="9525">
            <a:solidFill>
              <a:srgbClr val="1C45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6" name="Google Shape;66;p10"/>
          <p:cNvSpPr/>
          <p:nvPr/>
        </p:nvSpPr>
        <p:spPr>
          <a:xfrm>
            <a:off x="2022825" y="3512538"/>
            <a:ext cx="1124700" cy="343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4CCCC"/>
          </a:solidFill>
          <a:ln cap="flat" cmpd="sng" w="9525">
            <a:solidFill>
              <a:srgbClr val="99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7" name="Google Shape;67;p10"/>
          <p:cNvSpPr/>
          <p:nvPr/>
        </p:nvSpPr>
        <p:spPr>
          <a:xfrm>
            <a:off x="5584075" y="2727288"/>
            <a:ext cx="1124700" cy="343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9DAF8"/>
          </a:solidFill>
          <a:ln cap="flat" cmpd="sng" w="9525">
            <a:solidFill>
              <a:srgbClr val="1C45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8" name="Google Shape;68;p10"/>
          <p:cNvSpPr/>
          <p:nvPr/>
        </p:nvSpPr>
        <p:spPr>
          <a:xfrm>
            <a:off x="5584075" y="3512538"/>
            <a:ext cx="1124700" cy="343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4CCCC"/>
          </a:solidFill>
          <a:ln cap="flat" cmpd="sng" w="9525">
            <a:solidFill>
              <a:srgbClr val="99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9" name="Google Shape;69;p10"/>
          <p:cNvSpPr txBox="1"/>
          <p:nvPr/>
        </p:nvSpPr>
        <p:spPr>
          <a:xfrm>
            <a:off x="5477275" y="2424425"/>
            <a:ext cx="13383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1C4587"/>
                </a:solidFill>
                <a:latin typeface="Open Sans"/>
                <a:ea typeface="Open Sans"/>
                <a:cs typeface="Open Sans"/>
                <a:sym typeface="Open Sans"/>
              </a:rPr>
              <a:t>Regression</a:t>
            </a:r>
            <a:endParaRPr b="1">
              <a:solidFill>
                <a:srgbClr val="1C4587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0" name="Google Shape;70;p10"/>
          <p:cNvSpPr txBox="1"/>
          <p:nvPr/>
        </p:nvSpPr>
        <p:spPr>
          <a:xfrm>
            <a:off x="5332525" y="3918725"/>
            <a:ext cx="1627800" cy="38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990000"/>
                </a:solidFill>
                <a:latin typeface="Open Sans"/>
                <a:ea typeface="Open Sans"/>
                <a:cs typeface="Open Sans"/>
                <a:sym typeface="Open Sans"/>
              </a:rPr>
              <a:t>Classification</a:t>
            </a:r>
            <a:endParaRPr b="1">
              <a:solidFill>
                <a:srgbClr val="99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990000"/>
                </a:solidFill>
                <a:latin typeface="Open Sans"/>
                <a:ea typeface="Open Sans"/>
                <a:cs typeface="Open Sans"/>
                <a:sym typeface="Open Sans"/>
              </a:rPr>
              <a:t>(in 313 bins)</a:t>
            </a:r>
            <a:endParaRPr sz="1000">
              <a:solidFill>
                <a:srgbClr val="99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1" name="Google Shape;71;p10"/>
          <p:cNvSpPr txBox="1"/>
          <p:nvPr/>
        </p:nvSpPr>
        <p:spPr>
          <a:xfrm>
            <a:off x="1916025" y="2424425"/>
            <a:ext cx="13383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1C4587"/>
                </a:solidFill>
                <a:latin typeface="Open Sans"/>
                <a:ea typeface="Open Sans"/>
                <a:cs typeface="Open Sans"/>
                <a:sym typeface="Open Sans"/>
              </a:rPr>
              <a:t>RGB</a:t>
            </a:r>
            <a:endParaRPr b="1">
              <a:solidFill>
                <a:srgbClr val="1C4587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2" name="Google Shape;72;p10"/>
          <p:cNvSpPr txBox="1"/>
          <p:nvPr/>
        </p:nvSpPr>
        <p:spPr>
          <a:xfrm>
            <a:off x="1916025" y="3995675"/>
            <a:ext cx="13383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990000"/>
                </a:solidFill>
                <a:latin typeface="Open Sans"/>
                <a:ea typeface="Open Sans"/>
                <a:cs typeface="Open Sans"/>
                <a:sym typeface="Open Sans"/>
              </a:rPr>
              <a:t>CIELab</a:t>
            </a:r>
            <a:endParaRPr b="1">
              <a:solidFill>
                <a:srgbClr val="99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3" name="Google Shape;73;p10"/>
          <p:cNvSpPr txBox="1"/>
          <p:nvPr/>
        </p:nvSpPr>
        <p:spPr>
          <a:xfrm>
            <a:off x="3696650" y="2424425"/>
            <a:ext cx="13383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1C4587"/>
                </a:solidFill>
                <a:latin typeface="Open Sans"/>
                <a:ea typeface="Open Sans"/>
                <a:cs typeface="Open Sans"/>
                <a:sym typeface="Open Sans"/>
              </a:rPr>
              <a:t>UNet arch.</a:t>
            </a:r>
            <a:endParaRPr b="1">
              <a:solidFill>
                <a:srgbClr val="1C4587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4" name="Google Shape;74;p10"/>
          <p:cNvSpPr txBox="1"/>
          <p:nvPr/>
        </p:nvSpPr>
        <p:spPr>
          <a:xfrm>
            <a:off x="3697888" y="3995675"/>
            <a:ext cx="13383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990000"/>
                </a:solidFill>
                <a:latin typeface="Open Sans"/>
                <a:ea typeface="Open Sans"/>
                <a:cs typeface="Open Sans"/>
                <a:sym typeface="Open Sans"/>
              </a:rPr>
              <a:t>Zhang (UNet + weights)</a:t>
            </a:r>
            <a:endParaRPr b="1" sz="1200">
              <a:solidFill>
                <a:srgbClr val="99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5" name="Google Shape;75;p10"/>
          <p:cNvSpPr txBox="1"/>
          <p:nvPr/>
        </p:nvSpPr>
        <p:spPr>
          <a:xfrm>
            <a:off x="8136725" y="2294125"/>
            <a:ext cx="13383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 wish… 🙄</a:t>
            </a:r>
            <a:endParaRPr sz="10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1"/>
          <p:cNvSpPr/>
          <p:nvPr/>
        </p:nvSpPr>
        <p:spPr>
          <a:xfrm>
            <a:off x="7717200" y="4189050"/>
            <a:ext cx="1273200" cy="845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2" name="Google Shape;82;p11"/>
          <p:cNvSpPr txBox="1"/>
          <p:nvPr>
            <p:ph type="title"/>
          </p:nvPr>
        </p:nvSpPr>
        <p:spPr>
          <a:xfrm>
            <a:off x="457200" y="361950"/>
            <a:ext cx="8229600" cy="609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COCO Dataset and color spaces</a:t>
            </a:r>
            <a:endParaRPr/>
          </a:p>
        </p:txBody>
      </p:sp>
      <p:sp>
        <p:nvSpPr>
          <p:cNvPr id="83" name="Google Shape;83;p11"/>
          <p:cNvSpPr txBox="1"/>
          <p:nvPr>
            <p:ph idx="1" type="body"/>
          </p:nvPr>
        </p:nvSpPr>
        <p:spPr>
          <a:xfrm>
            <a:off x="457200" y="1200150"/>
            <a:ext cx="3962400" cy="3429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/>
              <a:t>For this project I have used a reduced version of the </a:t>
            </a:r>
            <a:r>
              <a:rPr b="1" lang="en-US"/>
              <a:t>COCO dataset</a:t>
            </a:r>
            <a:r>
              <a:rPr lang="en-US"/>
              <a:t>. Very used in research for several tasks: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BBoxes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Mask s</a:t>
            </a:r>
            <a:r>
              <a:rPr lang="en-US"/>
              <a:t>egmentation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People keypoints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Captioning tasks.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/>
              <a:t>The version used has </a:t>
            </a:r>
            <a:r>
              <a:rPr b="1" lang="en-US"/>
              <a:t>30k images</a:t>
            </a:r>
            <a:r>
              <a:rPr lang="en-US"/>
              <a:t> and I have divided it </a:t>
            </a:r>
            <a:r>
              <a:rPr b="1" lang="en-US"/>
              <a:t>90%-10%</a:t>
            </a:r>
            <a:r>
              <a:rPr lang="en-US"/>
              <a:t> in a train - val split. Later, I have chosen several images to test visually the results. </a:t>
            </a:r>
            <a:endParaRPr/>
          </a:p>
        </p:txBody>
      </p:sp>
      <p:pic>
        <p:nvPicPr>
          <p:cNvPr id="84" name="Google Shape;84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96725" y="1200150"/>
            <a:ext cx="2992800" cy="30175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2"/>
          <p:cNvSpPr txBox="1"/>
          <p:nvPr>
            <p:ph type="title"/>
          </p:nvPr>
        </p:nvSpPr>
        <p:spPr>
          <a:xfrm>
            <a:off x="457200" y="361950"/>
            <a:ext cx="8229600" cy="609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Feature Engineering</a:t>
            </a:r>
            <a:endParaRPr/>
          </a:p>
        </p:txBody>
      </p:sp>
      <p:sp>
        <p:nvSpPr>
          <p:cNvPr id="91" name="Google Shape;91;p12"/>
          <p:cNvSpPr txBox="1"/>
          <p:nvPr>
            <p:ph idx="4294967295" type="body"/>
          </p:nvPr>
        </p:nvSpPr>
        <p:spPr>
          <a:xfrm>
            <a:off x="457200" y="1146625"/>
            <a:ext cx="4107600" cy="3429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/>
              <a:t>Since our task is image-to-image, for every entry, they are resized to (512, 512) or (256, 256) and create two images: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400"/>
              <a:buChar char="●"/>
            </a:pPr>
            <a:r>
              <a:rPr b="1" lang="en-US"/>
              <a:t>Input: greyscale </a:t>
            </a:r>
            <a:r>
              <a:rPr lang="en-US"/>
              <a:t>→ (H, W, 1)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-US"/>
              <a:t>Target: color </a:t>
            </a:r>
            <a:r>
              <a:rPr lang="en-US"/>
              <a:t>→ (H, W, 3*) same on both spaces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pic>
        <p:nvPicPr>
          <p:cNvPr id="92" name="Google Shape;92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22300" y="884650"/>
            <a:ext cx="2249501" cy="168709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26687" y="2791825"/>
            <a:ext cx="2640726" cy="146705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2"/>
          <p:cNvSpPr/>
          <p:nvPr/>
        </p:nvSpPr>
        <p:spPr>
          <a:xfrm>
            <a:off x="604350" y="3045750"/>
            <a:ext cx="4107600" cy="11145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99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990000"/>
                </a:solidFill>
                <a:latin typeface="Open Sans"/>
                <a:ea typeface="Open Sans"/>
                <a:cs typeface="Open Sans"/>
                <a:sym typeface="Open Sans"/>
              </a:rPr>
              <a:t>*Important: </a:t>
            </a:r>
            <a:r>
              <a:rPr lang="en-US" sz="1200">
                <a:solidFill>
                  <a:srgbClr val="990000"/>
                </a:solidFill>
                <a:latin typeface="Open Sans"/>
                <a:ea typeface="Open Sans"/>
                <a:cs typeface="Open Sans"/>
                <a:sym typeface="Open Sans"/>
              </a:rPr>
              <a:t>Zhang’s model takes the </a:t>
            </a:r>
            <a:r>
              <a:rPr b="1" lang="en-US" sz="1200">
                <a:solidFill>
                  <a:srgbClr val="990000"/>
                </a:solidFill>
                <a:latin typeface="Open Sans"/>
                <a:ea typeface="Open Sans"/>
                <a:cs typeface="Open Sans"/>
                <a:sym typeface="Open Sans"/>
              </a:rPr>
              <a:t>grayscale L channel as input</a:t>
            </a:r>
            <a:r>
              <a:rPr lang="en-US" sz="1200">
                <a:solidFill>
                  <a:srgbClr val="990000"/>
                </a:solidFill>
                <a:latin typeface="Open Sans"/>
                <a:ea typeface="Open Sans"/>
                <a:cs typeface="Open Sans"/>
                <a:sym typeface="Open Sans"/>
              </a:rPr>
              <a:t>, while the </a:t>
            </a:r>
            <a:r>
              <a:rPr b="1" lang="en-US" sz="1200">
                <a:solidFill>
                  <a:srgbClr val="990000"/>
                </a:solidFill>
                <a:latin typeface="Open Sans"/>
                <a:ea typeface="Open Sans"/>
                <a:cs typeface="Open Sans"/>
                <a:sym typeface="Open Sans"/>
              </a:rPr>
              <a:t>ab channels</a:t>
            </a:r>
            <a:r>
              <a:rPr lang="en-US" sz="1200">
                <a:solidFill>
                  <a:srgbClr val="990000"/>
                </a:solidFill>
                <a:latin typeface="Open Sans"/>
                <a:ea typeface="Open Sans"/>
                <a:cs typeface="Open Sans"/>
                <a:sym typeface="Open Sans"/>
              </a:rPr>
              <a:t> are </a:t>
            </a:r>
            <a:r>
              <a:rPr b="1" lang="en-US" sz="1200">
                <a:solidFill>
                  <a:srgbClr val="990000"/>
                </a:solidFill>
                <a:latin typeface="Open Sans"/>
                <a:ea typeface="Open Sans"/>
                <a:cs typeface="Open Sans"/>
                <a:sym typeface="Open Sans"/>
              </a:rPr>
              <a:t>quantized into 313 bins</a:t>
            </a:r>
            <a:r>
              <a:rPr lang="en-US" sz="1200">
                <a:solidFill>
                  <a:srgbClr val="990000"/>
                </a:solidFill>
                <a:latin typeface="Open Sans"/>
                <a:ea typeface="Open Sans"/>
                <a:cs typeface="Open Sans"/>
                <a:sym typeface="Open Sans"/>
              </a:rPr>
              <a:t> using </a:t>
            </a:r>
            <a:r>
              <a:rPr b="1" lang="en-US" sz="1200">
                <a:solidFill>
                  <a:srgbClr val="990000"/>
                </a:solidFill>
                <a:latin typeface="Open Sans"/>
                <a:ea typeface="Open Sans"/>
                <a:cs typeface="Open Sans"/>
                <a:sym typeface="Open Sans"/>
              </a:rPr>
              <a:t>k-means clustering</a:t>
            </a:r>
            <a:r>
              <a:rPr lang="en-US" sz="1200">
                <a:solidFill>
                  <a:srgbClr val="990000"/>
                </a:solidFill>
                <a:latin typeface="Open Sans"/>
                <a:ea typeface="Open Sans"/>
                <a:cs typeface="Open Sans"/>
                <a:sym typeface="Open Sans"/>
              </a:rPr>
              <a:t> with nearest neighbor encoding for classification.</a:t>
            </a:r>
            <a:endParaRPr sz="1200">
              <a:solidFill>
                <a:srgbClr val="99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99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3"/>
          <p:cNvSpPr txBox="1"/>
          <p:nvPr>
            <p:ph type="title"/>
          </p:nvPr>
        </p:nvSpPr>
        <p:spPr>
          <a:xfrm>
            <a:off x="457200" y="361950"/>
            <a:ext cx="8229600" cy="609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Exploratory Data Analysis</a:t>
            </a:r>
            <a:endParaRPr/>
          </a:p>
        </p:txBody>
      </p:sp>
      <p:sp>
        <p:nvSpPr>
          <p:cNvPr id="101" name="Google Shape;101;p13"/>
          <p:cNvSpPr txBox="1"/>
          <p:nvPr>
            <p:ph idx="2" type="body"/>
          </p:nvPr>
        </p:nvSpPr>
        <p:spPr>
          <a:xfrm>
            <a:off x="3909775" y="1212300"/>
            <a:ext cx="4777200" cy="3429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/>
              <a:t>In general, human centered datasets are not very colorful, as it can be seen in the plots. 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/>
              <a:t>There is no clear relationship between </a:t>
            </a:r>
            <a:r>
              <a:rPr lang="en-US"/>
              <a:t>luminescence</a:t>
            </a:r>
            <a:r>
              <a:rPr lang="en-US"/>
              <a:t> and chroma, apart from having most of the pixels in the same bins. </a:t>
            </a:r>
            <a:endParaRPr/>
          </a:p>
        </p:txBody>
      </p:sp>
      <p:pic>
        <p:nvPicPr>
          <p:cNvPr id="102" name="Google Shape;102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3775" y="1065500"/>
            <a:ext cx="1758651" cy="1403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6925" y="2975663"/>
            <a:ext cx="1933681" cy="1559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24862" y="2981288"/>
            <a:ext cx="1933676" cy="15483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09956" y="2975687"/>
            <a:ext cx="2080542" cy="1559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4"/>
          <p:cNvSpPr/>
          <p:nvPr/>
        </p:nvSpPr>
        <p:spPr>
          <a:xfrm>
            <a:off x="1241025" y="2248475"/>
            <a:ext cx="2681700" cy="11154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Lets dig deeper…</a:t>
            </a:r>
            <a:endParaRPr b="1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Open Sans"/>
              <a:buChar char="★"/>
            </a:pPr>
            <a:r>
              <a:rPr b="1" lang="en-US"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(512, 512)</a:t>
            </a:r>
            <a:endParaRPr b="1" sz="10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Open Sans"/>
              <a:buChar char="★"/>
            </a:pPr>
            <a:r>
              <a:rPr lang="en-US"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More scheduler</a:t>
            </a:r>
            <a:endParaRPr sz="10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Open Sans"/>
              <a:buChar char="★"/>
            </a:pPr>
            <a:r>
              <a:rPr b="1" lang="en-US"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1Conv: (k=7, s=2, p=3)</a:t>
            </a:r>
            <a:endParaRPr b="1" sz="10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Open Sans"/>
              <a:buChar char="★"/>
            </a:pPr>
            <a:r>
              <a:rPr b="1" lang="en-US"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Clear U-shaped</a:t>
            </a:r>
            <a:endParaRPr b="1" sz="10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2" name="Google Shape;112;p14"/>
          <p:cNvSpPr txBox="1"/>
          <p:nvPr>
            <p:ph type="title"/>
          </p:nvPr>
        </p:nvSpPr>
        <p:spPr>
          <a:xfrm>
            <a:off x="457200" y="361950"/>
            <a:ext cx="8229600" cy="609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C4587"/>
                </a:solidFill>
              </a:rPr>
              <a:t>UNet Architecture - Modelling and Results</a:t>
            </a:r>
            <a:endParaRPr>
              <a:solidFill>
                <a:srgbClr val="1C4587"/>
              </a:solidFill>
            </a:endParaRPr>
          </a:p>
        </p:txBody>
      </p:sp>
      <p:pic>
        <p:nvPicPr>
          <p:cNvPr id="113" name="Google Shape;11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57463" y="945075"/>
            <a:ext cx="3900724" cy="111545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4"/>
          <p:cNvSpPr/>
          <p:nvPr/>
        </p:nvSpPr>
        <p:spPr>
          <a:xfrm>
            <a:off x="7717200" y="4189050"/>
            <a:ext cx="1273200" cy="845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5" name="Google Shape;115;p14"/>
          <p:cNvSpPr/>
          <p:nvPr/>
        </p:nvSpPr>
        <p:spPr>
          <a:xfrm>
            <a:off x="1241025" y="945100"/>
            <a:ext cx="2681700" cy="11154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Open Sans"/>
                <a:ea typeface="Open Sans"/>
                <a:cs typeface="Open Sans"/>
                <a:sym typeface="Open Sans"/>
              </a:rPr>
              <a:t>Basic Model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Font typeface="Open Sans"/>
              <a:buChar char="★"/>
            </a:pPr>
            <a:r>
              <a:rPr lang="en-US" sz="1000">
                <a:latin typeface="Open Sans"/>
                <a:ea typeface="Open Sans"/>
                <a:cs typeface="Open Sans"/>
                <a:sym typeface="Open Sans"/>
              </a:rPr>
              <a:t>LeakyRelu, MAE</a:t>
            </a:r>
            <a:endParaRPr sz="1000">
              <a:latin typeface="Open Sans"/>
              <a:ea typeface="Open Sans"/>
              <a:cs typeface="Open Sans"/>
              <a:sym typeface="Open Sans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Font typeface="Open Sans"/>
              <a:buChar char="★"/>
            </a:pPr>
            <a:r>
              <a:rPr b="1" lang="en-US" sz="1000">
                <a:latin typeface="Open Sans"/>
                <a:ea typeface="Open Sans"/>
                <a:cs typeface="Open Sans"/>
                <a:sym typeface="Open Sans"/>
              </a:rPr>
              <a:t>(256, 256)</a:t>
            </a:r>
            <a:endParaRPr b="1" sz="1000">
              <a:latin typeface="Open Sans"/>
              <a:ea typeface="Open Sans"/>
              <a:cs typeface="Open Sans"/>
              <a:sym typeface="Open Sans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Font typeface="Open Sans"/>
              <a:buChar char="★"/>
            </a:pPr>
            <a:r>
              <a:rPr b="1" lang="en-US" sz="1000">
                <a:latin typeface="Open Sans"/>
                <a:ea typeface="Open Sans"/>
                <a:cs typeface="Open Sans"/>
                <a:sym typeface="Open Sans"/>
              </a:rPr>
              <a:t>5 layers / 32 filters</a:t>
            </a:r>
            <a:endParaRPr b="1" sz="1000">
              <a:latin typeface="Open Sans"/>
              <a:ea typeface="Open Sans"/>
              <a:cs typeface="Open Sans"/>
              <a:sym typeface="Open Sans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Font typeface="Open Sans"/>
              <a:buChar char="★"/>
            </a:pPr>
            <a:r>
              <a:rPr lang="en-US" sz="1000">
                <a:latin typeface="Open Sans"/>
                <a:ea typeface="Open Sans"/>
                <a:cs typeface="Open Sans"/>
                <a:sym typeface="Open Sans"/>
              </a:rPr>
              <a:t>Dropout</a:t>
            </a:r>
            <a:endParaRPr sz="1000">
              <a:latin typeface="Open Sans"/>
              <a:ea typeface="Open Sans"/>
              <a:cs typeface="Open Sans"/>
              <a:sym typeface="Open Sans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Font typeface="Open Sans"/>
              <a:buChar char="★"/>
            </a:pPr>
            <a:r>
              <a:rPr lang="en-US" sz="1000">
                <a:latin typeface="Open Sans"/>
                <a:ea typeface="Open Sans"/>
                <a:cs typeface="Open Sans"/>
                <a:sym typeface="Open Sans"/>
              </a:rPr>
              <a:t>Scheduler</a:t>
            </a:r>
            <a:endParaRPr sz="16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6" name="Google Shape;116;p14"/>
          <p:cNvSpPr/>
          <p:nvPr/>
        </p:nvSpPr>
        <p:spPr>
          <a:xfrm>
            <a:off x="1241025" y="3597450"/>
            <a:ext cx="2681700" cy="11154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Loss, loss, loss</a:t>
            </a:r>
            <a:endParaRPr b="1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Open Sans"/>
              <a:buChar char="★"/>
            </a:pPr>
            <a:r>
              <a:rPr lang="en-US"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MAE + </a:t>
            </a:r>
            <a:r>
              <a:rPr b="1" lang="en-US"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Perceptual Loss</a:t>
            </a:r>
            <a:endParaRPr b="1" sz="10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Open Sans"/>
              <a:buChar char="★"/>
            </a:pPr>
            <a:r>
              <a:rPr lang="en-US"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Lambda = 0.3</a:t>
            </a:r>
            <a:endParaRPr sz="10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Open Sans"/>
              <a:buChar char="★"/>
            </a:pPr>
            <a:r>
              <a:rPr lang="en-US"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VGG19 pretrained</a:t>
            </a:r>
            <a:endParaRPr sz="10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7" name="Google Shape;117;p14"/>
          <p:cNvSpPr/>
          <p:nvPr/>
        </p:nvSpPr>
        <p:spPr>
          <a:xfrm>
            <a:off x="639925" y="1424125"/>
            <a:ext cx="388500" cy="1206600"/>
          </a:xfrm>
          <a:prstGeom prst="curvedRightArrow">
            <a:avLst>
              <a:gd fmla="val 25000" name="adj1"/>
              <a:gd fmla="val 75449" name="adj2"/>
              <a:gd fmla="val 25000" name="adj3"/>
            </a:avLst>
          </a:prstGeom>
          <a:solidFill>
            <a:srgbClr val="073763"/>
          </a:solidFill>
          <a:ln cap="flat" cmpd="sng" w="19050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8" name="Google Shape;118;p14"/>
          <p:cNvSpPr/>
          <p:nvPr/>
        </p:nvSpPr>
        <p:spPr>
          <a:xfrm>
            <a:off x="639925" y="2982450"/>
            <a:ext cx="388500" cy="1206600"/>
          </a:xfrm>
          <a:prstGeom prst="curvedRightArrow">
            <a:avLst>
              <a:gd fmla="val 25000" name="adj1"/>
              <a:gd fmla="val 75449" name="adj2"/>
              <a:gd fmla="val 25000" name="adj3"/>
            </a:avLst>
          </a:prstGeom>
          <a:solidFill>
            <a:srgbClr val="073763"/>
          </a:solidFill>
          <a:ln cap="flat" cmpd="sng" w="19050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19" name="Google Shape;119;p14" title="vanish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80025" y="1107650"/>
            <a:ext cx="790300" cy="79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70375" y="2418100"/>
            <a:ext cx="776150" cy="776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4" title="pred_real_madrid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57475" y="2206900"/>
            <a:ext cx="3900700" cy="12441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4" title="pred_dog.jpg"/>
          <p:cNvPicPr preferRelativeResize="0"/>
          <p:nvPr/>
        </p:nvPicPr>
        <p:blipFill rotWithShape="1">
          <a:blip r:embed="rId7">
            <a:alphaModFix/>
          </a:blip>
          <a:srcRect b="9521" l="10710" r="8761" t="7607"/>
          <a:stretch/>
        </p:blipFill>
        <p:spPr>
          <a:xfrm>
            <a:off x="4630450" y="3511213"/>
            <a:ext cx="3754751" cy="1287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4" title="confused.png"/>
          <p:cNvPicPr preferRelativeResize="0"/>
          <p:nvPr/>
        </p:nvPicPr>
        <p:blipFill rotWithShape="1">
          <a:blip r:embed="rId8">
            <a:alphaModFix/>
          </a:blip>
          <a:srcRect b="0" l="12510" r="0" t="0"/>
          <a:stretch/>
        </p:blipFill>
        <p:spPr>
          <a:xfrm>
            <a:off x="3243650" y="3767100"/>
            <a:ext cx="679075" cy="776100"/>
          </a:xfrm>
          <a:prstGeom prst="rect">
            <a:avLst/>
          </a:prstGeom>
          <a:solidFill>
            <a:srgbClr val="CFE2F3"/>
          </a:solidFill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5"/>
          <p:cNvSpPr/>
          <p:nvPr/>
        </p:nvSpPr>
        <p:spPr>
          <a:xfrm>
            <a:off x="7717200" y="4189050"/>
            <a:ext cx="1273200" cy="845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0" name="Google Shape;130;p15"/>
          <p:cNvSpPr txBox="1"/>
          <p:nvPr>
            <p:ph type="title"/>
          </p:nvPr>
        </p:nvSpPr>
        <p:spPr>
          <a:xfrm>
            <a:off x="457200" y="361950"/>
            <a:ext cx="8229600" cy="609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990000"/>
                </a:solidFill>
              </a:rPr>
              <a:t>Zhang - Modelling and Results</a:t>
            </a:r>
            <a:endParaRPr>
              <a:solidFill>
                <a:srgbClr val="990000"/>
              </a:solidFill>
            </a:endParaRPr>
          </a:p>
        </p:txBody>
      </p:sp>
      <p:sp>
        <p:nvSpPr>
          <p:cNvPr id="131" name="Google Shape;131;p15"/>
          <p:cNvSpPr/>
          <p:nvPr/>
        </p:nvSpPr>
        <p:spPr>
          <a:xfrm>
            <a:off x="1241025" y="3554750"/>
            <a:ext cx="2681700" cy="9582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Make weights weigh</a:t>
            </a:r>
            <a:endParaRPr b="1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Open Sans"/>
              <a:buChar char="★"/>
            </a:pPr>
            <a:r>
              <a:rPr lang="en-US"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Big sample for weights</a:t>
            </a:r>
            <a:endParaRPr sz="10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Open Sans"/>
              <a:buChar char="★"/>
            </a:pPr>
            <a:r>
              <a:rPr lang="en-US"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Higher batch_size</a:t>
            </a:r>
            <a:endParaRPr sz="10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Open Sans"/>
              <a:buChar char="★"/>
            </a:pPr>
            <a:r>
              <a:rPr lang="en-US"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adam</a:t>
            </a:r>
            <a:endParaRPr sz="10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2" name="Google Shape;132;p15"/>
          <p:cNvSpPr/>
          <p:nvPr/>
        </p:nvSpPr>
        <p:spPr>
          <a:xfrm>
            <a:off x="1241025" y="2469100"/>
            <a:ext cx="2681700" cy="9582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Open Sans"/>
                <a:ea typeface="Open Sans"/>
                <a:cs typeface="Open Sans"/>
                <a:sym typeface="Open Sans"/>
              </a:rPr>
              <a:t>Basic Model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Font typeface="Open Sans"/>
              <a:buChar char="★"/>
            </a:pPr>
            <a:r>
              <a:rPr lang="en-US" sz="1000">
                <a:latin typeface="Open Sans"/>
                <a:ea typeface="Open Sans"/>
                <a:cs typeface="Open Sans"/>
                <a:sym typeface="Open Sans"/>
              </a:rPr>
              <a:t>sgd, momentum = 0.9</a:t>
            </a:r>
            <a:endParaRPr sz="1000">
              <a:latin typeface="Open Sans"/>
              <a:ea typeface="Open Sans"/>
              <a:cs typeface="Open Sans"/>
              <a:sym typeface="Open Sans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Font typeface="Open Sans"/>
              <a:buChar char="★"/>
            </a:pPr>
            <a:r>
              <a:rPr lang="en-US" sz="1000">
                <a:latin typeface="Open Sans"/>
                <a:ea typeface="Open Sans"/>
                <a:cs typeface="Open Sans"/>
                <a:sym typeface="Open Sans"/>
              </a:rPr>
              <a:t>(256, 256)</a:t>
            </a:r>
            <a:endParaRPr sz="1000">
              <a:latin typeface="Open Sans"/>
              <a:ea typeface="Open Sans"/>
              <a:cs typeface="Open Sans"/>
              <a:sym typeface="Open Sans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Font typeface="Open Sans"/>
              <a:buChar char="★"/>
            </a:pPr>
            <a:r>
              <a:rPr lang="en-US" sz="1000">
                <a:latin typeface="Open Sans"/>
                <a:ea typeface="Open Sans"/>
                <a:cs typeface="Open Sans"/>
                <a:sym typeface="Open Sans"/>
              </a:rPr>
              <a:t>313 bins</a:t>
            </a:r>
            <a:endParaRPr sz="1000">
              <a:latin typeface="Open Sans"/>
              <a:ea typeface="Open Sans"/>
              <a:cs typeface="Open Sans"/>
              <a:sym typeface="Open Sans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Font typeface="Open Sans"/>
              <a:buChar char="★"/>
            </a:pPr>
            <a:r>
              <a:rPr lang="en-US" sz="1000">
                <a:latin typeface="Open Sans"/>
                <a:ea typeface="Open Sans"/>
                <a:cs typeface="Open Sans"/>
                <a:sym typeface="Open Sans"/>
              </a:rPr>
              <a:t>Low batch size</a:t>
            </a:r>
            <a:endParaRPr sz="10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3" name="Google Shape;133;p15"/>
          <p:cNvSpPr/>
          <p:nvPr/>
        </p:nvSpPr>
        <p:spPr>
          <a:xfrm>
            <a:off x="639925" y="2948125"/>
            <a:ext cx="388500" cy="1206600"/>
          </a:xfrm>
          <a:prstGeom prst="curvedRightArrow">
            <a:avLst>
              <a:gd fmla="val 25000" name="adj1"/>
              <a:gd fmla="val 75449" name="adj2"/>
              <a:gd fmla="val 25000" name="adj3"/>
            </a:avLst>
          </a:prstGeom>
          <a:solidFill>
            <a:srgbClr val="990000"/>
          </a:solidFill>
          <a:ln cap="flat" cmpd="sng" w="19050">
            <a:solidFill>
              <a:srgbClr val="99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34" name="Google Shape;134;p15" title="pred_old_madrid.jpeg"/>
          <p:cNvPicPr preferRelativeResize="0"/>
          <p:nvPr/>
        </p:nvPicPr>
        <p:blipFill rotWithShape="1">
          <a:blip r:embed="rId3">
            <a:alphaModFix/>
          </a:blip>
          <a:srcRect b="12804" l="10313" r="8093" t="12796"/>
          <a:stretch/>
        </p:blipFill>
        <p:spPr>
          <a:xfrm>
            <a:off x="4731175" y="3570313"/>
            <a:ext cx="3551475" cy="1079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5" title="pred_rafa_nadal.jpg"/>
          <p:cNvPicPr preferRelativeResize="0"/>
          <p:nvPr/>
        </p:nvPicPr>
        <p:blipFill rotWithShape="1">
          <a:blip r:embed="rId4">
            <a:alphaModFix/>
          </a:blip>
          <a:srcRect b="3381" l="9856" r="8276" t="0"/>
          <a:stretch/>
        </p:blipFill>
        <p:spPr>
          <a:xfrm>
            <a:off x="4973223" y="2344900"/>
            <a:ext cx="3067369" cy="120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15275" y="2753049"/>
            <a:ext cx="556200" cy="54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5" title="scale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15275" y="3786650"/>
            <a:ext cx="556200" cy="55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40600" y="1054925"/>
            <a:ext cx="4262803" cy="1206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6"/>
          <p:cNvSpPr txBox="1"/>
          <p:nvPr>
            <p:ph type="title"/>
          </p:nvPr>
        </p:nvSpPr>
        <p:spPr>
          <a:xfrm>
            <a:off x="457200" y="361950"/>
            <a:ext cx="8229600" cy="609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Main Insights</a:t>
            </a:r>
            <a:endParaRPr/>
          </a:p>
        </p:txBody>
      </p:sp>
      <p:sp>
        <p:nvSpPr>
          <p:cNvPr id="145" name="Google Shape;145;p16"/>
          <p:cNvSpPr txBox="1"/>
          <p:nvPr>
            <p:ph idx="1" type="body"/>
          </p:nvPr>
        </p:nvSpPr>
        <p:spPr>
          <a:xfrm>
            <a:off x="457200" y="2266950"/>
            <a:ext cx="1905000" cy="3429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/>
              <a:t>Regression </a:t>
            </a:r>
            <a:r>
              <a:rPr lang="en-US"/>
              <a:t>is straightforward to implement and </a:t>
            </a:r>
            <a:r>
              <a:rPr b="1" lang="en-US"/>
              <a:t>faster to train (3x)</a:t>
            </a:r>
            <a:endParaRPr b="1"/>
          </a:p>
        </p:txBody>
      </p:sp>
      <p:sp>
        <p:nvSpPr>
          <p:cNvPr id="146" name="Google Shape;146;p16"/>
          <p:cNvSpPr txBox="1"/>
          <p:nvPr>
            <p:ph idx="2" type="body"/>
          </p:nvPr>
        </p:nvSpPr>
        <p:spPr>
          <a:xfrm>
            <a:off x="2565400" y="2266950"/>
            <a:ext cx="1905000" cy="3429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300"/>
              <a:t>Classification </a:t>
            </a:r>
            <a:r>
              <a:rPr lang="en-US" sz="1300"/>
              <a:t>achieves </a:t>
            </a:r>
            <a:r>
              <a:rPr b="1" lang="en-US" sz="1300"/>
              <a:t>better results</a:t>
            </a:r>
            <a:r>
              <a:rPr lang="en-US" sz="1300"/>
              <a:t> and does </a:t>
            </a:r>
            <a:r>
              <a:rPr b="1" lang="en-US" sz="1300"/>
              <a:t>not overfit as easily. </a:t>
            </a:r>
            <a:r>
              <a:rPr lang="en-US" sz="1300"/>
              <a:t>Partly because of </a:t>
            </a:r>
            <a:r>
              <a:rPr b="1" lang="en-US" sz="1300"/>
              <a:t>weighted CrossEntropy</a:t>
            </a:r>
            <a:r>
              <a:rPr lang="en-US" sz="1300"/>
              <a:t> and balancing </a:t>
            </a:r>
            <a:r>
              <a:rPr lang="en-US" sz="1300"/>
              <a:t>formula</a:t>
            </a:r>
            <a:r>
              <a:rPr lang="en-US" sz="1300"/>
              <a:t> by Zhang.</a:t>
            </a:r>
            <a:endParaRPr sz="1300"/>
          </a:p>
        </p:txBody>
      </p:sp>
      <p:sp>
        <p:nvSpPr>
          <p:cNvPr id="147" name="Google Shape;147;p16"/>
          <p:cNvSpPr txBox="1"/>
          <p:nvPr>
            <p:ph idx="3" type="body"/>
          </p:nvPr>
        </p:nvSpPr>
        <p:spPr>
          <a:xfrm>
            <a:off x="4673600" y="2266950"/>
            <a:ext cx="1905000" cy="3429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200"/>
              <a:t>Computer Vision </a:t>
            </a:r>
            <a:r>
              <a:rPr lang="en-US" sz="1200"/>
              <a:t>tasks are </a:t>
            </a:r>
            <a:r>
              <a:rPr b="1" lang="en-US" sz="1200"/>
              <a:t>really heavy</a:t>
            </a:r>
            <a:r>
              <a:rPr lang="en-US" sz="1200"/>
              <a:t> to implement on personal laptops. Had to use </a:t>
            </a:r>
            <a:r>
              <a:rPr b="1" lang="en-US" sz="1200"/>
              <a:t>Lightning AI</a:t>
            </a:r>
            <a:r>
              <a:rPr lang="en-US" sz="1200"/>
              <a:t> (free tokens) to get </a:t>
            </a:r>
            <a:r>
              <a:rPr lang="en-US" sz="1200"/>
              <a:t>access to GPUs. Also fine tune parameters like size, batch_size…</a:t>
            </a:r>
            <a:endParaRPr sz="1200"/>
          </a:p>
        </p:txBody>
      </p:sp>
      <p:sp>
        <p:nvSpPr>
          <p:cNvPr id="148" name="Google Shape;148;p16"/>
          <p:cNvSpPr txBox="1"/>
          <p:nvPr>
            <p:ph idx="4" type="body"/>
          </p:nvPr>
        </p:nvSpPr>
        <p:spPr>
          <a:xfrm>
            <a:off x="6781800" y="2266950"/>
            <a:ext cx="1905000" cy="3429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/>
              <a:t>Upscaling tasks</a:t>
            </a:r>
            <a:r>
              <a:rPr lang="en-US"/>
              <a:t> are very difficult to deploy. The model needs to </a:t>
            </a:r>
            <a:r>
              <a:rPr b="1" lang="en-US"/>
              <a:t>“learn” new information</a:t>
            </a:r>
            <a:r>
              <a:rPr lang="en-US"/>
              <a:t> from a </a:t>
            </a:r>
            <a:r>
              <a:rPr b="1" lang="en-US"/>
              <a:t>unique channel</a:t>
            </a:r>
            <a:r>
              <a:rPr lang="en-US"/>
              <a:t> and </a:t>
            </a:r>
            <a:r>
              <a:rPr b="1" lang="en-US"/>
              <a:t>output it to 3. </a:t>
            </a:r>
            <a:endParaRPr b="1"/>
          </a:p>
        </p:txBody>
      </p:sp>
      <p:pic>
        <p:nvPicPr>
          <p:cNvPr id="149" name="Google Shape;149;p16"/>
          <p:cNvPicPr preferRelativeResize="0"/>
          <p:nvPr/>
        </p:nvPicPr>
        <p:blipFill rotWithShape="1">
          <a:blip r:embed="rId3">
            <a:alphaModFix/>
          </a:blip>
          <a:srcRect b="12167" l="33216" r="31652" t="14221"/>
          <a:stretch/>
        </p:blipFill>
        <p:spPr>
          <a:xfrm>
            <a:off x="5130350" y="1123950"/>
            <a:ext cx="991500" cy="1090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90998" y="1226750"/>
            <a:ext cx="885000" cy="885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57425" y="1173513"/>
            <a:ext cx="991500" cy="99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88975" y="1123938"/>
            <a:ext cx="1090625" cy="1090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7"/>
          <p:cNvSpPr txBox="1"/>
          <p:nvPr/>
        </p:nvSpPr>
        <p:spPr>
          <a:xfrm>
            <a:off x="2133600" y="2038350"/>
            <a:ext cx="67803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" lvl="0" marL="3175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Thank you!</a:t>
            </a:r>
            <a:endParaRPr sz="3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MU PPT Theme">
  <a:themeElements>
    <a:clrScheme name="Custom 1">
      <a:dk1>
        <a:srgbClr val="000000"/>
      </a:dk1>
      <a:lt1>
        <a:srgbClr val="FFFFFF"/>
      </a:lt1>
      <a:dk2>
        <a:srgbClr val="75787B"/>
      </a:dk2>
      <a:lt2>
        <a:srgbClr val="C8C9C7"/>
      </a:lt2>
      <a:accent1>
        <a:srgbClr val="BB0000"/>
      </a:accent1>
      <a:accent2>
        <a:srgbClr val="75787B"/>
      </a:accent2>
      <a:accent3>
        <a:srgbClr val="00833C"/>
      </a:accent3>
      <a:accent4>
        <a:srgbClr val="F2A900"/>
      </a:accent4>
      <a:accent5>
        <a:srgbClr val="002C71"/>
      </a:accent5>
      <a:accent6>
        <a:srgbClr val="C8C9C7"/>
      </a:accent6>
      <a:hlink>
        <a:srgbClr val="BB0000"/>
      </a:hlink>
      <a:folHlink>
        <a:srgbClr val="82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